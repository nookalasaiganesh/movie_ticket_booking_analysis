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005840"/>
            <a:ext cx="109270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307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400" b="1">
                <a:solidFill>
                  <a:srgbClr val="102A56"/>
                </a:solidFill>
              </a:defRPr>
            </a:pPr>
            <a:r>
              <a:t>MOVIE TICKET BOOKING</a:t>
            </a:r>
          </a:p>
          <a:p>
            <a:pPr algn="ctr">
              <a:defRPr sz="3000" b="1">
                <a:solidFill>
                  <a:srgbClr val="1F64AF"/>
                </a:solidFill>
              </a:defRPr>
            </a:pPr>
            <a:r>
              <a:t>&amp; REVENUE ANALYSIS</a:t>
            </a:r>
          </a:p>
          <a:p>
            <a:pPr algn="ctr">
              <a:spcBef>
                <a:spcPts val="2400"/>
              </a:spcBef>
              <a:defRPr sz="1900"/>
            </a:pPr>
            <a:r>
              <a:t>SQL Database Project | Beginner to Medium</a:t>
            </a:r>
          </a:p>
          <a:p>
            <a:pPr algn="ctr">
              <a:spcBef>
                <a:spcPts val="2800"/>
              </a:spcBef>
              <a:defRPr sz="1600"/>
            </a:pPr>
            <a:r>
              <a:t>Presented by: 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56"/>
                </a:solidFill>
              </a:defRPr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A78"/>
                </a:solidFill>
              </a:defRPr>
            </a:pPr>
            <a:r>
              <a:t>Why this database is useful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3314B"/>
                </a:solidFill>
              </a:defRPr>
            </a:pPr>
            <a:r>
              <a:t>A cinema needs to track movies, screens, showtimes, seats, bookings and payments.</a:t>
            </a:r>
          </a:p>
          <a:p>
            <a:pPr>
              <a:spcAft>
                <a:spcPts val="1400"/>
              </a:spcAft>
              <a:defRPr sz="2200">
                <a:solidFill>
                  <a:srgbClr val="23314B"/>
                </a:solidFill>
              </a:defRPr>
            </a:pPr>
            <a:r>
              <a:t>The database stores these details in connected tables instead of one large table.</a:t>
            </a:r>
          </a:p>
          <a:p>
            <a:pPr>
              <a:spcAft>
                <a:spcPts val="1400"/>
              </a:spcAft>
              <a:defRPr sz="2200">
                <a:solidFill>
                  <a:srgbClr val="23314B"/>
                </a:solidFill>
              </a:defRPr>
            </a:pPr>
            <a:r>
              <a:t>SQL queries turn booking records into useful business reports.</a:t>
            </a:r>
          </a:p>
          <a:p>
            <a:pPr>
              <a:spcAft>
                <a:spcPts val="1400"/>
              </a:spcAft>
              <a:defRPr sz="2200">
                <a:solidFill>
                  <a:srgbClr val="23314B"/>
                </a:solidFill>
              </a:defRPr>
            </a:pPr>
            <a:r>
              <a:t>Level: Beginner → Medium | Database: MySQL 8.0+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56"/>
                </a:solidFill>
              </a:defRPr>
            </a:pPr>
            <a:r>
              <a:t>2.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3314B"/>
                </a:solidFill>
              </a:defRPr>
            </a:pPr>
            <a:r>
              <a:t>Identify the highest-grossing movies.</a:t>
            </a:r>
          </a:p>
          <a:p>
            <a:pPr>
              <a:spcAft>
                <a:spcPts val="1400"/>
              </a:spcAft>
              <a:defRPr sz="2200">
                <a:solidFill>
                  <a:srgbClr val="23314B"/>
                </a:solidFill>
              </a:defRPr>
            </a:pPr>
            <a:r>
              <a:t>Calculate seat occupancy for each showtime.</a:t>
            </a:r>
          </a:p>
          <a:p>
            <a:pPr>
              <a:spcAft>
                <a:spcPts val="1400"/>
              </a:spcAft>
              <a:defRPr sz="2200">
                <a:solidFill>
                  <a:srgbClr val="23314B"/>
                </a:solidFill>
              </a:defRPr>
            </a:pPr>
            <a:r>
              <a:t>Compare weekday revenue with weekend revenue.</a:t>
            </a:r>
          </a:p>
          <a:p>
            <a:pPr>
              <a:spcAft>
                <a:spcPts val="1400"/>
              </a:spcAft>
              <a:defRPr sz="2200">
                <a:solidFill>
                  <a:srgbClr val="23314B"/>
                </a:solidFill>
              </a:defRPr>
            </a:pPr>
            <a:r>
              <a:t>Measure cancellations and cancellation percentage.</a:t>
            </a:r>
          </a:p>
          <a:p>
            <a:pPr>
              <a:spcAft>
                <a:spcPts val="1400"/>
              </a:spcAft>
              <a:defRPr sz="2200">
                <a:solidFill>
                  <a:srgbClr val="23314B"/>
                </a:solidFill>
              </a:defRPr>
            </a:pPr>
            <a:r>
              <a:t>Track booking trends by date and compare revenue by city/payment method.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56"/>
                </a:solidFill>
              </a:defRPr>
            </a:pPr>
            <a:r>
              <a:t>3. ER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A78"/>
                </a:solidFill>
              </a:defRPr>
            </a:pPr>
            <a:r>
              <a:t>Primary keys (PK) identify rows; foreign keys (FK) connect tables</a:t>
            </a:r>
          </a:p>
        </p:txBody>
      </p:sp>
      <p:pic>
        <p:nvPicPr>
          <p:cNvPr id="4" name="Picture 3" descr="movie_ticket_booking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3856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56"/>
                </a:solidFill>
              </a:defRPr>
            </a:pPr>
            <a:r>
              <a:t>4.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3268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A78"/>
                </a:solidFill>
              </a:defRPr>
            </a:pPr>
            <a:r>
              <a:t>Seven main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314B"/>
                </a:solidFill>
              </a:defRPr>
            </a:pPr>
            <a:r>
              <a:t>Movies — movie information.  Theatres — cinema locations.</a:t>
            </a:r>
          </a:p>
          <a:p>
            <a:pPr>
              <a:spcAft>
                <a:spcPts val="1400"/>
              </a:spcAft>
              <a:defRPr sz="1900">
                <a:solidFill>
                  <a:srgbClr val="23314B"/>
                </a:solidFill>
              </a:defRPr>
            </a:pPr>
            <a:r>
              <a:t>Screens — screens inside theatres.  Seats — seats inside screens.</a:t>
            </a:r>
          </a:p>
          <a:p>
            <a:pPr>
              <a:spcAft>
                <a:spcPts val="1400"/>
              </a:spcAft>
              <a:defRPr sz="1900">
                <a:solidFill>
                  <a:srgbClr val="23314B"/>
                </a:solidFill>
              </a:defRPr>
            </a:pPr>
            <a:r>
              <a:t>Shows — movie + screen + date/time + base price.</a:t>
            </a:r>
          </a:p>
          <a:p>
            <a:pPr>
              <a:spcAft>
                <a:spcPts val="1400"/>
              </a:spcAft>
              <a:defRPr sz="1900">
                <a:solidFill>
                  <a:srgbClr val="23314B"/>
                </a:solidFill>
              </a:defRPr>
            </a:pPr>
            <a:r>
              <a:t>Bookings — one ticket/seat for one show, including booking status.</a:t>
            </a:r>
          </a:p>
          <a:p>
            <a:pPr>
              <a:spcAft>
                <a:spcPts val="1400"/>
              </a:spcAft>
              <a:defRPr sz="1900">
                <a:solidFill>
                  <a:srgbClr val="23314B"/>
                </a:solidFill>
              </a:defRPr>
            </a:pPr>
            <a:r>
              <a:t>Payments — payment method, amount and payment status.</a:t>
            </a:r>
          </a:p>
          <a:p>
            <a:pPr>
              <a:spcAft>
                <a:spcPts val="1400"/>
              </a:spcAft>
              <a:defRPr sz="1900">
                <a:solidFill>
                  <a:srgbClr val="23314B"/>
                </a:solidFill>
              </a:defRPr>
            </a:pPr>
            <a:r>
              <a:t>Relationships use primary keys and foreign keys; a unique rule stops duplicate booking of one seat for the same show.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56"/>
                </a:solidFill>
              </a:defRPr>
            </a:pPr>
            <a:r>
              <a:t>5. SQL Concepts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3314B"/>
                </a:solidFill>
              </a:defRPr>
            </a:pPr>
            <a:r>
              <a:t>CREATE DATABASE / CREATE TABLE — build the database.</a:t>
            </a:r>
          </a:p>
          <a:p>
            <a:pPr>
              <a:spcAft>
                <a:spcPts val="1400"/>
              </a:spcAft>
              <a:defRPr sz="2100">
                <a:solidFill>
                  <a:srgbClr val="23314B"/>
                </a:solidFill>
              </a:defRPr>
            </a:pPr>
            <a:r>
              <a:t>PRIMARY KEY / FOREIGN KEY — identify and connect records.</a:t>
            </a:r>
          </a:p>
          <a:p>
            <a:pPr>
              <a:spcAft>
                <a:spcPts val="1400"/>
              </a:spcAft>
              <a:defRPr sz="2100">
                <a:solidFill>
                  <a:srgbClr val="23314B"/>
                </a:solidFill>
              </a:defRPr>
            </a:pPr>
            <a:r>
              <a:t>JOIN — combine related table data.</a:t>
            </a:r>
          </a:p>
          <a:p>
            <a:pPr>
              <a:spcAft>
                <a:spcPts val="1400"/>
              </a:spcAft>
              <a:defRPr sz="2100">
                <a:solidFill>
                  <a:srgbClr val="23314B"/>
                </a:solidFill>
              </a:defRPr>
            </a:pPr>
            <a:r>
              <a:t>SUM, COUNT, CASE, GROUP BY, HAVING and ORDER BY — calculate and compare results.</a:t>
            </a:r>
          </a:p>
          <a:p>
            <a:pPr>
              <a:spcAft>
                <a:spcPts val="1400"/>
              </a:spcAft>
              <a:defRPr sz="2100">
                <a:solidFill>
                  <a:srgbClr val="23314B"/>
                </a:solidFill>
              </a:defRPr>
            </a:pPr>
            <a:r>
              <a:t>Views save common reports; indexes can improve lookup speed.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56"/>
                </a:solidFill>
              </a:defRPr>
            </a:pPr>
            <a:r>
              <a:t>6. Analysis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314B"/>
                </a:solidFill>
              </a:defRPr>
            </a:pPr>
            <a:r>
              <a:t>Movie revenue: add successful payments for valid bookings and rank movies.</a:t>
            </a:r>
          </a:p>
          <a:p>
            <a:pPr>
              <a:spcAft>
                <a:spcPts val="1400"/>
              </a:spcAft>
              <a:defRPr sz="2000">
                <a:solidFill>
                  <a:srgbClr val="23314B"/>
                </a:solidFill>
              </a:defRPr>
            </a:pPr>
            <a:r>
              <a:t>Seat occupancy: valid occupied seats ÷ total seats × 100.</a:t>
            </a:r>
          </a:p>
          <a:p>
            <a:pPr>
              <a:spcAft>
                <a:spcPts val="1400"/>
              </a:spcAft>
              <a:defRPr sz="2000">
                <a:solidFill>
                  <a:srgbClr val="23314B"/>
                </a:solidFill>
              </a:defRPr>
            </a:pPr>
            <a:r>
              <a:t>Weekday/weekend: classify the show date, then sum valid revenue.</a:t>
            </a:r>
          </a:p>
          <a:p>
            <a:pPr>
              <a:spcAft>
                <a:spcPts val="1400"/>
              </a:spcAft>
              <a:defRPr sz="2000">
                <a:solidFill>
                  <a:srgbClr val="23314B"/>
                </a:solidFill>
              </a:defRPr>
            </a:pPr>
            <a:r>
              <a:t>Cancellations: count cancelled bookings and calculate their percentage.</a:t>
            </a:r>
          </a:p>
          <a:p>
            <a:pPr>
              <a:spcAft>
                <a:spcPts val="1400"/>
              </a:spcAft>
              <a:defRPr sz="2000">
                <a:solidFill>
                  <a:srgbClr val="23314B"/>
                </a:solidFill>
              </a:defRPr>
            </a:pPr>
            <a:r>
              <a:t>Booking trends: count bookings by booking date.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56"/>
                </a:solidFill>
              </a:defRPr>
            </a:pPr>
            <a:r>
              <a:t>7. Business Rules &amp;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314B"/>
                </a:solidFill>
              </a:defRPr>
            </a:pPr>
            <a:r>
              <a:t>Each booking row represents one seat for one show.</a:t>
            </a:r>
          </a:p>
          <a:p>
            <a:pPr>
              <a:spcAft>
                <a:spcPts val="1400"/>
              </a:spcAft>
              <a:defRPr sz="2000">
                <a:solidFill>
                  <a:srgbClr val="23314B"/>
                </a:solidFill>
              </a:defRPr>
            </a:pPr>
            <a:r>
              <a:t>A seat can be booked again for another show, but not twice for the same show.</a:t>
            </a:r>
          </a:p>
          <a:p>
            <a:pPr>
              <a:spcAft>
                <a:spcPts val="1400"/>
              </a:spcAft>
              <a:defRPr sz="2000">
                <a:solidFill>
                  <a:srgbClr val="23314B"/>
                </a:solidFill>
              </a:defRPr>
            </a:pPr>
            <a:r>
              <a:t>Only Successful payments from Confirmed/Completed bookings count as revenue.</a:t>
            </a:r>
          </a:p>
          <a:p>
            <a:pPr>
              <a:spcAft>
                <a:spcPts val="1400"/>
              </a:spcAft>
              <a:defRPr sz="2000">
                <a:solidFill>
                  <a:srgbClr val="23314B"/>
                </a:solidFill>
              </a:defRPr>
            </a:pPr>
            <a:r>
              <a:t>Cancelled bookings are excluded from occupancy and revenue.</a:t>
            </a:r>
          </a:p>
          <a:p>
            <a:pPr>
              <a:spcAft>
                <a:spcPts val="1400"/>
              </a:spcAft>
              <a:defRPr sz="2000">
                <a:solidFill>
                  <a:srgbClr val="23314B"/>
                </a:solidFill>
              </a:defRPr>
            </a:pPr>
            <a:r>
              <a:t>Sample data is created for learning; it does not represent real cinema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56"/>
                </a:solidFill>
              </a:defRPr>
            </a:pPr>
            <a:r>
              <a:t>8.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3314B"/>
                </a:solidFill>
              </a:defRPr>
            </a:pPr>
            <a:r>
              <a:t>The project demonstrates relational database design with seven connected tables.</a:t>
            </a:r>
          </a:p>
          <a:p>
            <a:pPr>
              <a:spcAft>
                <a:spcPts val="1400"/>
              </a:spcAft>
              <a:defRPr sz="2200">
                <a:solidFill>
                  <a:srgbClr val="23314B"/>
                </a:solidFill>
              </a:defRPr>
            </a:pPr>
            <a:r>
              <a:t>SQL reports help compare movie performance, seat usage, cancellations and revenue trends.</a:t>
            </a:r>
          </a:p>
          <a:p>
            <a:pPr>
              <a:spcAft>
                <a:spcPts val="1400"/>
              </a:spcAft>
              <a:defRPr sz="2200">
                <a:solidFill>
                  <a:srgbClr val="23314B"/>
                </a:solidFill>
              </a:defRPr>
            </a:pPr>
            <a:r>
              <a:t>The design can be extended with customers, multiple payment attempts, refunds and online booking integration.</a:t>
            </a:r>
          </a:p>
          <a:p>
            <a:pPr>
              <a:spcAft>
                <a:spcPts val="1400"/>
              </a:spcAft>
              <a:defRPr sz="2200">
                <a:solidFill>
                  <a:srgbClr val="23314B"/>
                </a:solidFill>
              </a:defRPr>
            </a:pPr>
            <a:r>
              <a:t>Thank you |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